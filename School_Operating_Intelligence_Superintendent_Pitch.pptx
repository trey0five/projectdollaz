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School Operating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331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Know what needs attention — before someone has to tell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3794760"/>
            <a:ext cx="4114800" cy="548640"/>
          </a:xfrm>
          <a:prstGeom prst="roundRect">
            <a:avLst/>
          </a:prstGeom>
          <a:solidFill>
            <a:srgbClr val="2B6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92277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Intelligence above the systems you already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897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Superintendent Concept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Running a school shouldn’t require detective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The data exists. The operating picture usually doesn’t.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Budget • actuals • cash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Enrollment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Applications • retention •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Tuition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Receivables • collections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Accreditation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Evidence • ratings • goals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97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Deadlines • policies •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657600"/>
            <a:ext cx="29260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7"/>
                </a:solidFill>
                <a:latin typeface="Aptos"/>
              </a:rPr>
              <a:t>People &amp;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297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Owners • tasks •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037"/>
                </a:solidFill>
                <a:latin typeface="Aptos"/>
              </a:rPr>
              <a:t>Leaders are forced to assemble the story themselves — across systems, spreadsheets, emails and meetings.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The leadership blind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Simple questions should not require a reporting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10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037"/>
                </a:solidFill>
                <a:latin typeface="Aptos"/>
              </a:rPr>
              <a:t>Which schools need my attention today?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2412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2037"/>
                </a:solidFill>
                <a:latin typeface="Aptos"/>
              </a:rPr>
              <a:t>What changed since last week?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28416"/>
            <a:ext cx="102412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4930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2037"/>
                </a:solidFill>
                <a:latin typeface="Aptos"/>
              </a:rPr>
              <a:t>Where is risk building?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9664"/>
            <a:ext cx="102412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3425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2037"/>
                </a:solidFill>
                <a:latin typeface="Aptos"/>
              </a:rPr>
              <a:t>What is driving the problem?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10912"/>
            <a:ext cx="102412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17550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F2037"/>
                </a:solidFill>
                <a:latin typeface="Aptos"/>
              </a:rPr>
              <a:t>Who owns the next action?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Introducing School Operating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Not another system to replace what schools already have.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1005840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93852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SCHOOL OPERATING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9966960" cy="731520"/>
          </a:xfrm>
          <a:prstGeom prst="roundRect">
            <a:avLst/>
          </a:prstGeom>
          <a:solidFill>
            <a:srgbClr val="E0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136392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037"/>
                </a:solidFill>
                <a:latin typeface="Aptos"/>
              </a:rPr>
              <a:t>Connect  •  Interpret  •  Prioritize  •  Recommend  •  Follow 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Accounting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Tuition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3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Accreditation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HR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96528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4160520"/>
            <a:ext cx="141732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43891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037"/>
                </a:solidFill>
                <a:latin typeface="Aptos"/>
              </a:rPr>
              <a:t>Spreadsheets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2037"/>
                </a:solidFill>
                <a:latin typeface="Aptos"/>
              </a:rPr>
              <a:t>The platform turns fragmented operating data into one prioritized picture for leadership.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The “I can’t run without it”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A superintendent opens one brief — not thirty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44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2037"/>
                </a:solidFill>
                <a:latin typeface="Aptos"/>
              </a:rPr>
              <a:t>MONDAY MORNING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7 items require your attention across 30 schools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97480"/>
            <a:ext cx="9966960" cy="51206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2852928"/>
            <a:ext cx="164592" cy="164592"/>
          </a:xfrm>
          <a:prstGeom prst="ellipse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7980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037"/>
                </a:solidFill>
                <a:latin typeface="Aptos"/>
              </a:rPr>
              <a:t>St. Anne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980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Cash forecast below 30-day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79806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B94141"/>
                </a:solidFill>
                <a:latin typeface="Aptos"/>
              </a:rPr>
              <a:t>Intervention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355848"/>
            <a:ext cx="9966960" cy="51206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3511296"/>
            <a:ext cx="164592" cy="164592"/>
          </a:xfrm>
          <a:prstGeom prst="ellipse">
            <a:avLst/>
          </a:prstGeom>
          <a:solidFill>
            <a:srgbClr val="D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456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037"/>
                </a:solidFill>
                <a:latin typeface="Aptos"/>
              </a:rPr>
              <a:t>St. Mark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56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Enrollment pacing 8% below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4564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2912D"/>
                </a:solidFill>
                <a:latin typeface="Aptos"/>
              </a:rPr>
              <a:t>Watch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014216"/>
            <a:ext cx="9966960" cy="51206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61872" y="4169664"/>
            <a:ext cx="164592" cy="164592"/>
          </a:xfrm>
          <a:prstGeom prst="ellipse">
            <a:avLst/>
          </a:prstGeom>
          <a:solidFill>
            <a:srgbClr val="D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037"/>
                </a:solidFill>
                <a:latin typeface="Aptos"/>
              </a:rPr>
              <a:t>Holy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14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Tuition receivables increased 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14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2912D"/>
                </a:solidFill>
                <a:latin typeface="Aptos"/>
              </a:rPr>
              <a:t>Watch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672584"/>
            <a:ext cx="9966960" cy="51206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61872" y="4828032"/>
            <a:ext cx="164592" cy="164592"/>
          </a:xfrm>
          <a:prstGeom prst="ellipse">
            <a:avLst/>
          </a:prstGeom>
          <a:solidFill>
            <a:srgbClr val="2B6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773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037"/>
                </a:solidFill>
                <a:latin typeface="Aptos"/>
              </a:rPr>
              <a:t>St. Luke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731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91E"/>
                </a:solidFill>
                <a:latin typeface="Aptos"/>
              </a:rPr>
              <a:t>Accreditation action due in 12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7731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67A7"/>
                </a:solidFill>
                <a:latin typeface="Aptos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321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2037"/>
                </a:solidFill>
                <a:latin typeface="Aptos"/>
              </a:rPr>
              <a:t>Prioritized by significance — not simply by which system generated the alert.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From signal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A red light is not intelligence. Understanding what to do next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993392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7A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037"/>
                </a:solidFill>
                <a:latin typeface="Aptos"/>
              </a:rP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Enrollment is 8% below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8346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67A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874519"/>
            <a:ext cx="1993392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7A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037"/>
                </a:solidFill>
                <a:latin typeface="Aptos"/>
              </a:rP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Retention loss concentrated in grades 6–8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346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67A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3" y="1874519"/>
            <a:ext cx="1993392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5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7A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5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037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5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Projected $310K revenue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1" y="28346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67A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874519"/>
            <a:ext cx="1993392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7A7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037"/>
                </a:solidFill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Launch retention review + revise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8346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67A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7" y="1874519"/>
            <a:ext cx="1993392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59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7A7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037"/>
                </a:solidFill>
                <a:latin typeface="Aptos"/>
              </a:rPr>
              <a:t>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Aptos"/>
              </a:rPr>
              <a:t>Principal + finance lead • due Friday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037"/>
                </a:solidFill>
                <a:latin typeface="Aptos"/>
              </a:rPr>
              <a:t>The system closes the gap between seeing a problem and managing the response.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One school. Four signals. One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Individually, these are data points. Together, they reveal operating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7181"/>
                </a:solidFill>
                <a:latin typeface="Aptos"/>
              </a:rPr>
              <a:t>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94141"/>
                </a:solidFill>
                <a:latin typeface="Aptos"/>
              </a:rPr>
              <a:t>▼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vs.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47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7181"/>
                </a:solidFill>
                <a:latin typeface="Aptos"/>
              </a:rPr>
              <a:t>Receivables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134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2912D"/>
                </a:solidFill>
                <a:latin typeface="Aptos"/>
              </a:rPr>
              <a:t>▲ 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743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30+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47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7181"/>
                </a:solidFill>
                <a:latin typeface="Aptos"/>
              </a:rPr>
              <a:t>Payroll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3134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2912D"/>
                </a:solidFill>
                <a:latin typeface="Aptos"/>
              </a:rPr>
              <a:t>▲ 4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743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of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7373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7736" y="1947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7181"/>
                </a:solidFill>
                <a:latin typeface="Aptos"/>
              </a:rPr>
              <a:t>Accreditation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3134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67A7"/>
                </a:solidFill>
                <a:latin typeface="Aptos"/>
              </a:rPr>
              <a:t>1 overdue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743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priority 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886200"/>
            <a:ext cx="10058400" cy="1280160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17880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OPERATING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Financial pressure is emerging and may require intervention before the next budget cycle.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System-level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See the portfolio — then know exactly where to intervene.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St. Anne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554480"/>
            <a:ext cx="1828800" cy="384048"/>
          </a:xfrm>
          <a:prstGeom prst="round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0752" y="162763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Cash + enrollment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St. 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94560"/>
            <a:ext cx="1828800" cy="384048"/>
          </a:xfrm>
          <a:prstGeom prst="roundRect">
            <a:avLst/>
          </a:prstGeom>
          <a:solidFill>
            <a:srgbClr val="D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26771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Holy Family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834640"/>
            <a:ext cx="1828800" cy="384048"/>
          </a:xfrm>
          <a:prstGeom prst="roundRect">
            <a:avLst/>
          </a:prstGeom>
          <a:solidFill>
            <a:srgbClr val="D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907791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Receivables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20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St. Luke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474720"/>
            <a:ext cx="1828800" cy="384048"/>
          </a:xfrm>
          <a:prstGeom prst="roundRect">
            <a:avLst/>
          </a:prstGeom>
          <a:solidFill>
            <a:srgbClr val="2B6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547871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204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Accreditation deadline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St. Peter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114800"/>
            <a:ext cx="1828800" cy="384048"/>
          </a:xfrm>
          <a:prstGeom prst="roundRect">
            <a:avLst/>
          </a:prstGeom>
          <a:solidFill>
            <a:srgbClr val="2A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418795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No material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037"/>
                </a:solidFill>
                <a:latin typeface="Aptos"/>
              </a:rPr>
              <a:t>St. 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754880"/>
            <a:ext cx="1828800" cy="384048"/>
          </a:xfrm>
          <a:prstGeom prst="roundRect">
            <a:avLst/>
          </a:prstGeom>
          <a:solidFill>
            <a:srgbClr val="2A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4828032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Healthy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7181"/>
                </a:solidFill>
                <a:latin typeface="Aptos"/>
              </a:rPr>
              <a:t>No material exceptions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037"/>
                </a:solidFill>
                <a:latin typeface="Aptos"/>
              </a:rPr>
              <a:t>Leadership sees exceptions first — while still retaining access to the evidence underneath.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The value is not another dashboard. It is an operating intelligence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749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2037"/>
                </a:solidFill>
                <a:latin typeface="Aptos"/>
              </a:rPr>
              <a:t>Existing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Record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272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Manage individual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027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Store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782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Generate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50749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2037"/>
                </a:solidFill>
                <a:latin typeface="Aptos"/>
              </a:rPr>
              <a:t>School Operating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Connects signals across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1272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Explains 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027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Prioritizes what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782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Recommends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53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91E"/>
                </a:solidFill>
                <a:latin typeface="Aptos"/>
              </a:rPr>
              <a:t>• Tracks follow-through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037"/>
                </a:solidFill>
                <a:latin typeface="Aptos"/>
              </a:rPr>
              <a:t>We don’t replace the systems that run pieces of the school. We connect them into intelligence that helps leaders run the school.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9CFE8"/>
                </a:solidFill>
                <a:latin typeface="Aptos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Imagine knowing what needs your attention
before someone has to tell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From fragmented systems → to connected intelligence → to timely leadership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66360"/>
            <a:ext cx="3017520" cy="566928"/>
          </a:xfrm>
          <a:prstGeom prst="roundRect">
            <a:avLst/>
          </a:prstGeom>
          <a:solidFill>
            <a:srgbClr val="2B6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321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See the superintendent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2037"/>
                </a:solidFill>
                <a:latin typeface="Aptos"/>
              </a:rPr>
              <a:t>Demo flow — 3 to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7181"/>
                </a:solidFill>
                <a:latin typeface="Aptos"/>
              </a:rPr>
              <a:t>Use this after the deck, not as a software 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037"/>
                </a:solidFill>
                <a:latin typeface="Aptos"/>
              </a:rPr>
              <a:t>1. Monday morning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91E"/>
                </a:solidFill>
                <a:latin typeface="Aptos"/>
              </a:rPr>
              <a:t>Open the Superintendent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037"/>
                </a:solidFill>
                <a:latin typeface="Aptos"/>
              </a:rPr>
              <a:t>2. Choose one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95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91E"/>
                </a:solidFill>
                <a:latin typeface="Aptos"/>
              </a:rPr>
              <a:t>Show why the school was flagged.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037"/>
                </a:solidFill>
                <a:latin typeface="Aptos"/>
              </a:rPr>
              <a:t>3. Connect the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369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91E"/>
                </a:solidFill>
                <a:latin typeface="Aptos"/>
              </a:rPr>
              <a:t>Reveal finance + enrollment + tuition/accreditation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037"/>
                </a:solidFill>
                <a:latin typeface="Aptos"/>
              </a:rPr>
              <a:t>4. Recommend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0782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91E"/>
                </a:solidFill>
                <a:latin typeface="Aptos"/>
              </a:rPr>
              <a:t>Show the suggested intervention and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19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037"/>
                </a:solidFill>
                <a:latin typeface="Aptos"/>
              </a:rPr>
              <a:t>5. Close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919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91E"/>
                </a:solidFill>
                <a:latin typeface="Aptos"/>
              </a:rPr>
              <a:t>Assign/follow up and return to the portfolio 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3718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